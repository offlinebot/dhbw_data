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681788" cy="9812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F8020-4B82-4776-9A8E-B02D06FC2137}" v="29" dt="2025-03-05T15:04:08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  <p:guide orient="horz" pos="162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956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84600" y="0"/>
            <a:ext cx="28956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438" y="736600"/>
            <a:ext cx="6538912" cy="3679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12" cy="441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20214"/>
            <a:ext cx="28956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8eb6dfa37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58eb6dfa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c9a3c6807_0_366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5c9a3c6807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52524ae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52524aeba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752524aeba_0_0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dd31f23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dd31f2310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6dd31f2310_0_0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dd31f231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dd31f2310_0_8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6dd31f2310_0_8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dd31f231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dd31f2310_0_16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6dd31f2310_0_16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dd31f231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dd31f2310_0_24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6dd31f2310_0_24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179512" y="123478"/>
            <a:ext cx="5256584" cy="792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2"/>
          <p:cNvGrpSpPr/>
          <p:nvPr/>
        </p:nvGrpSpPr>
        <p:grpSpPr>
          <a:xfrm>
            <a:off x="198338" y="298616"/>
            <a:ext cx="4431829" cy="688958"/>
            <a:chOff x="250825" y="260648"/>
            <a:chExt cx="5222875" cy="936104"/>
          </a:xfrm>
        </p:grpSpPr>
        <p:pic>
          <p:nvPicPr>
            <p:cNvPr id="22" name="Google Shape;22;p2" descr="DHBW_d_RV_WEB_150dpi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DHBW_d_RV_WEB_150dpi"/>
            <p:cNvPicPr preferRelativeResize="0"/>
            <p:nvPr/>
          </p:nvPicPr>
          <p:blipFill rotWithShape="1">
            <a:blip r:embed="rId3">
              <a:alphaModFix/>
            </a:blip>
            <a:srcRect r="-18176"/>
            <a:stretch/>
          </p:blipFill>
          <p:spPr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pic>
        <p:nvPicPr>
          <p:cNvPr id="24" name="Google Shape;24;p2" descr="Streifen_Titelmas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" y="3869197"/>
            <a:ext cx="9180513" cy="129484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2771800" y="4343410"/>
            <a:ext cx="35607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www.ravensburg.dhbw.de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539552" y="2208453"/>
            <a:ext cx="8136904" cy="36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AA0A3"/>
              </a:buClr>
              <a:buSzPts val="1710"/>
              <a:buNone/>
              <a:defRPr>
                <a:solidFill>
                  <a:srgbClr val="9AA0A3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>
                <a:solidFill>
                  <a:srgbClr val="9AA0A3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520"/>
              <a:buNone/>
              <a:defRPr>
                <a:solidFill>
                  <a:srgbClr val="9AA0A3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>
                <a:solidFill>
                  <a:srgbClr val="9AA0A3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539552" y="1761660"/>
            <a:ext cx="8136904" cy="37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364088" y="249492"/>
            <a:ext cx="3600400" cy="4320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itel mit Bild">
  <p:cSld name="Kapiteltitel mit Bild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3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2"/>
          </p:nvPr>
        </p:nvSpPr>
        <p:spPr>
          <a:xfrm>
            <a:off x="536433" y="1869672"/>
            <a:ext cx="814503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- Titel und Inhalt">
  <p:cSld name="Inhaltsfolie - Titel und Inhal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 und Untertitel">
  <p:cSld name="BackUp_Inhaltsfolie - nur Titel und Untertitel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- Leer">
  <p:cSld name="Inhaltsfolie - Le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mit Bild (2:1)">
  <p:cSld name="Inhaltsfolie mit Bild (2:1)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39552" y="1635646"/>
            <a:ext cx="4890468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5580114" y="1635646"/>
            <a:ext cx="3101351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Folienlayouts">
  <p:cSld name="BackUp_Folienlayou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001A"/>
          </a:solidFill>
          <a:ln w="9525" cap="flat" cmpd="sng">
            <a:solidFill>
              <a:srgbClr val="E100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755576" y="2139704"/>
            <a:ext cx="77768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BackUp - Layouts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Zwischentitel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67547" y="3305176"/>
            <a:ext cx="8213919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67547" y="2180035"/>
            <a:ext cx="8213919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E3539"/>
              </a:buClr>
              <a:buSzPts val="2000"/>
              <a:buNone/>
              <a:defRPr sz="2000">
                <a:solidFill>
                  <a:srgbClr val="2E3539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AA0A3"/>
              </a:buClr>
              <a:buSzPts val="1710"/>
              <a:buNone/>
              <a:defRPr sz="1800">
                <a:solidFill>
                  <a:srgbClr val="9AA0A3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 sz="1600">
                <a:solidFill>
                  <a:srgbClr val="9AA0A3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330"/>
              <a:buNone/>
              <a:defRPr sz="1400">
                <a:solidFill>
                  <a:srgbClr val="9AA0A3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Kapiteltitel Agenda oder Text">
  <p:cSld name="BackUp_Kapiteltitel Agenda oder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10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Kapiteltitel_blank">
  <p:cSld name="BackUp_Kapiteltitel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" name="Google Shape;70;p11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 und Inhalt">
  <p:cSld name="BackUp_Inhaltsfolie - nur Titel und Inhal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">
  <p:cSld name="BackUp_Inhaltsfolie - nur Titel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und Untertitel (2:1)">
  <p:cSld name="BackUp_Inhaltsfolie mit Bild und Untertitel (2:1)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>
            <a:off x="5580114" y="4379467"/>
            <a:ext cx="3101351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488632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3"/>
          </p:nvPr>
        </p:nvSpPr>
        <p:spPr>
          <a:xfrm>
            <a:off x="5580114" y="1635646"/>
            <a:ext cx="3101351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und Untertitel (1:1)">
  <p:cSld name="BackUp_Inhaltsfolie mit Bild und Untertitel (1:1)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3"/>
          </p:nvPr>
        </p:nvSpPr>
        <p:spPr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(1:1)">
  <p:cSld name="BackUp_Inhaltsfolie mit Bild (1:1)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2"/>
          </p:nvPr>
        </p:nvSpPr>
        <p:spPr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3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zwei Bilder und Untertitel (1:1)">
  <p:cSld name="BackUp_Inhaltsfolie - zwei Bilder und Untertitel (1:1)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3956293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3"/>
          </p:nvPr>
        </p:nvSpPr>
        <p:spPr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5"/>
          </p:nvPr>
        </p:nvSpPr>
        <p:spPr>
          <a:xfrm>
            <a:off x="539553" y="4371950"/>
            <a:ext cx="3960440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Vergleich">
  <p:cSld name="BackUp_Inhaltsfolie Vergleich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535103" y="843558"/>
            <a:ext cx="396488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4644008" y="843558"/>
            <a:ext cx="396488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TITELFORMAT BEARBEITEN</a:t>
            </a: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4 Bilder und Text">
  <p:cSld name="BackUp_4 Bilder und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576649" y="843558"/>
            <a:ext cx="3995270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568478" y="2733768"/>
            <a:ext cx="4003522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3"/>
          </p:nvPr>
        </p:nvSpPr>
        <p:spPr>
          <a:xfrm>
            <a:off x="4644008" y="843558"/>
            <a:ext cx="4081286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4"/>
          </p:nvPr>
        </p:nvSpPr>
        <p:spPr>
          <a:xfrm>
            <a:off x="4644009" y="2733768"/>
            <a:ext cx="4079026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Magazin">
  <p:cSld name="BackUp_Magazi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95539" y="1923678"/>
            <a:ext cx="3008313" cy="267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 sz="18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2E3539"/>
              </a:buClr>
              <a:buSzPts val="11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E353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2E3539"/>
              </a:buClr>
              <a:buSzPts val="85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2E353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2"/>
          </p:nvPr>
        </p:nvSpPr>
        <p:spPr>
          <a:xfrm>
            <a:off x="3563889" y="951570"/>
            <a:ext cx="5117574" cy="36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95537" y="948964"/>
            <a:ext cx="3007711" cy="90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jpg"/><Relationship Id="rId22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6433" y="735807"/>
            <a:ext cx="8145030" cy="539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47382" y="1466348"/>
            <a:ext cx="8134082" cy="299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7185" algn="l" rtl="0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Font typeface="Merriweather Sans"/>
              <a:buChar char="-"/>
              <a:defRPr sz="18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119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Font typeface="Merriweather Sans"/>
              <a:buChar char="-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250825" y="4839891"/>
            <a:ext cx="8686800" cy="0"/>
          </a:xfrm>
          <a:prstGeom prst="straightConnector1">
            <a:avLst/>
          </a:prstGeom>
          <a:noFill/>
          <a:ln w="12700" cap="flat" cmpd="sng">
            <a:solidFill>
              <a:srgbClr val="5C697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1"/>
          <p:cNvCxnSpPr/>
          <p:nvPr/>
        </p:nvCxnSpPr>
        <p:spPr>
          <a:xfrm>
            <a:off x="3419873" y="465535"/>
            <a:ext cx="5473306" cy="0"/>
          </a:xfrm>
          <a:prstGeom prst="straightConnector1">
            <a:avLst/>
          </a:prstGeom>
          <a:noFill/>
          <a:ln w="12700" cap="flat" cmpd="sng">
            <a:solidFill>
              <a:srgbClr val="5C697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"/>
          <p:cNvSpPr txBox="1"/>
          <p:nvPr/>
        </p:nvSpPr>
        <p:spPr>
          <a:xfrm>
            <a:off x="4932040" y="237297"/>
            <a:ext cx="37444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 i="0" u="none" strike="noStrike" cap="none">
                <a:solidFill>
                  <a:srgbClr val="2E3438"/>
                </a:solidFill>
                <a:latin typeface="Calibri"/>
                <a:ea typeface="Calibri"/>
                <a:cs typeface="Calibri"/>
                <a:sym typeface="Calibri"/>
              </a:rPr>
              <a:t>Data Visualization</a:t>
            </a:r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270346" y="111264"/>
            <a:ext cx="3305233" cy="513821"/>
            <a:chOff x="250825" y="260648"/>
            <a:chExt cx="5222875" cy="936104"/>
          </a:xfrm>
        </p:grpSpPr>
        <p:pic>
          <p:nvPicPr>
            <p:cNvPr id="16" name="Google Shape;16;p1" descr="DHBW_d_RV_WEB_150dpi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" descr="DHBW_d_RV_WEB_150dpi"/>
            <p:cNvPicPr preferRelativeResize="0"/>
            <p:nvPr/>
          </p:nvPicPr>
          <p:blipFill rotWithShape="1">
            <a:blip r:embed="rId22">
              <a:alphaModFix/>
            </a:blip>
            <a:srcRect r="-18176"/>
            <a:stretch/>
          </p:blipFill>
          <p:spPr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539550" y="2208451"/>
            <a:ext cx="8136900" cy="1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de-DE" b="1" sz="2800"/>
              <a:t>Airline Satisfaction Analyse</a:t>
            </a:r>
          </a:p>
          <a:p>
            <a:r>
              <a:rPr lang="de-DE" sz="2000"/>
              <a:t>von Leon</a:t>
            </a:r>
          </a:p>
        </p:txBody>
      </p:sp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539552" y="1761660"/>
            <a:ext cx="81369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t>Posterpräsentation WDS125</a:t>
            </a:r>
          </a:p>
        </p:txBody>
      </p:sp>
      <p:sp>
        <p:nvSpPr>
          <p:cNvPr id="130" name="Google Shape;130;p21"/>
          <p:cNvSpPr txBox="1"/>
          <p:nvPr/>
        </p:nvSpPr>
        <p:spPr>
          <a:xfrm>
            <a:off x="539550" y="31661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03.2026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body" idx="2"/>
          </p:nvPr>
        </p:nvSpPr>
        <p:spPr>
          <a:xfrm>
            <a:off x="535450" y="1346600"/>
            <a:ext cx="8145900" cy="3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Anwendungsfall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Data Cleaning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Data Exploration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Predictive Modelling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Nächste Schritte</a:t>
            </a:r>
            <a:endParaRPr sz="1500"/>
          </a:p>
        </p:txBody>
      </p:sp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Gliederung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2</a:t>
            </a:fld>
            <a:endParaRPr sz="900"/>
          </a:p>
        </p:txBody>
      </p:sp>
      <p:sp>
        <p:nvSpPr>
          <p:cNvPr id="138" name="Google Shape;138;p22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Q1 - 2026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r>
              <a:t>Datensatz: 103.902 Passagiere · 11 Merkmale (nach Bereinigung)</a:t>
            </a:r>
          </a:p>
          <a:p>
            <a:r>
              <a:t>Ursprünglich: 103.907 Zeilen × 13 Spalten</a:t>
            </a:r>
          </a:p>
          <a:p>
            <a:r>
              <a:t/>
            </a:r>
          </a:p>
          <a:p>
            <a:r>
              <a:t>Features: Geschlecht, Kundentyp, Alter, Reisegrund, Flugklasse,</a:t>
            </a:r>
          </a:p>
          <a:p>
            <a:r>
              <a:t>  Flugdistanz, Food &amp; Drink, On-board Service, Beinfreiheit, Verspätung</a:t>
            </a:r>
          </a:p>
          <a:p>
            <a:r>
              <a:t/>
            </a:r>
          </a:p>
          <a:p>
            <a:r>
              <a:t>Zielvariable: Kundenzufriedenheit</a:t>
            </a:r>
          </a:p>
          <a:p>
            <a:r>
              <a:t>  → satisfied (43 %)   vs.   neutral or dissatisfied (57 %)</a:t>
            </a:r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Anwendungsfall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3</a:t>
            </a:fld>
            <a:endParaRPr sz="900"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Q1 - 2026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r>
              <a:rPr lang="de-DE" sz="1600"/>
              <a:t>0 Duplikate vorhanden</a:t>
            </a:r>
          </a:p>
          <a:p>
            <a:r>
              <a:rPr lang="de-DE" sz="1600"/>
              <a:t>2 ungültige Werte in 'Leg room service' entfernt (nicht-numerisch)</a:t>
            </a:r>
          </a:p>
          <a:p>
            <a:r>
              <a:rPr lang="de-DE" sz="1600"/>
              <a:t>3 fehlende Altersangaben (NaN) → Zeilen entfernt</a:t>
            </a:r>
          </a:p>
          <a:p>
            <a:r>
              <a:rPr lang="de-DE" sz="1600"/>
              <a:t>Irrelevante Spalten gelöscht: Customer ID, isPilot</a:t>
            </a:r>
          </a:p>
          <a:p>
            <a:r>
              <a:rPr lang="de-DE" sz="1600"/>
              <a:t>Ergebnis: 103.902 Zeilen × 11 Spalten</a:t>
            </a:r>
          </a:p>
          <a:p>
            <a:r>
              <a:rPr lang="de-DE" sz="1600"/>
              <a:t/>
            </a:r>
          </a:p>
          <a:p>
            <a:r>
              <a:rPr lang="de-DE" sz="1600"/>
              <a:t>Ausreißer-Check via Boxplot (Alter, Flugdistanz, Verspätung):</a:t>
            </a:r>
          </a:p>
        </p:txBody>
      </p:sp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Cleaning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4</a:t>
            </a:fld>
            <a:endParaRPr sz="900"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Q1 - 2026</a:t>
            </a:r>
          </a:p>
        </p:txBody>
      </p:sp>
      <p:pic>
        <p:nvPicPr>
          <p:cNvPr id="159" name="Picture 158" descr="fig_outlier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61" y="3000000"/>
            <a:ext cx="8073078" cy="18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r>
              <a:rPr lang="de-DE" sz="1400"/>
              <a:t>Korrelationsmatrix · Zufriedenheitsverteilung · Flugklassen · Flugdistanz</a:t>
            </a: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5</a:t>
            </a:fld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Q1 - 2026</a:t>
            </a:r>
          </a:p>
        </p:txBody>
      </p:sp>
      <p:pic>
        <p:nvPicPr>
          <p:cNvPr id="169" name="Picture 168" descr="fig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00" y="1720000"/>
            <a:ext cx="4000000" cy="1450000"/>
          </a:xfrm>
          <a:prstGeom prst="rect">
            <a:avLst/>
          </a:prstGeom>
        </p:spPr>
      </p:pic>
      <p:pic>
        <p:nvPicPr>
          <p:cNvPr id="170" name="Picture 169" descr="fig_target_distrib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00" y="1720000"/>
            <a:ext cx="4000000" cy="1450000"/>
          </a:xfrm>
          <a:prstGeom prst="rect">
            <a:avLst/>
          </a:prstGeom>
        </p:spPr>
      </p:pic>
      <p:pic>
        <p:nvPicPr>
          <p:cNvPr id="171" name="Picture 170" descr="fig_distance_boxpl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00" y="3230000"/>
            <a:ext cx="4000000" cy="1450000"/>
          </a:xfrm>
          <a:prstGeom prst="rect">
            <a:avLst/>
          </a:prstGeom>
        </p:spPr>
      </p:pic>
      <p:pic>
        <p:nvPicPr>
          <p:cNvPr id="172" name="Picture 171" descr="fig_scat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0000" y="3230000"/>
            <a:ext cx="4000000" cy="145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r>
              <a:rPr lang="de-DE" sz="1500"/>
              <a:t>Modell: Random Forest Classifier (scikit-learn, Standard-Parameter)</a:t>
            </a:r>
          </a:p>
          <a:p>
            <a:r>
              <a:rPr lang="de-DE" sz="1500"/>
              <a:t>Encoding: One-Hot / Ordinal für kategorische Features</a:t>
            </a:r>
          </a:p>
          <a:p>
            <a:r>
              <a:rPr lang="de-DE" sz="1500"/>
              <a:t>Datensplitt: 80 % Training · 10 % Validation · 10 % Test</a:t>
            </a:r>
          </a:p>
          <a:p>
            <a:r>
              <a:rPr lang="de-DE" sz="1500"/>
              <a:t>  → Train: 83.121 · Val: 10.390 · Test: 10.391 Datensätze</a:t>
            </a:r>
          </a:p>
          <a:p>
            <a:r>
              <a:rPr lang="de-DE" sz="1500"/>
              <a:t/>
            </a:r>
          </a:p>
          <a:p>
            <a:r>
              <a:rPr lang="de-DE" sz="1500"/>
              <a:t>Ergebnisse auf dem Testset:</a:t>
            </a:r>
          </a:p>
          <a:p>
            <a:r>
              <a:rPr lang="de-DE" sz="1500"/>
              <a:t>  Accuracy: 86 %   |   Precision: 86 %   |   Recall: 86 %</a:t>
            </a:r>
          </a:p>
          <a:p>
            <a:r>
              <a:rPr lang="de-DE" sz="1500"/>
              <a:t>  F1-Score (dissatisfied): 0.88   |   F1-Score (satisfied): 0.83</a:t>
            </a:r>
          </a:p>
          <a:p>
            <a:r>
              <a:rPr lang="de-DE" sz="1500"/>
              <a:t/>
            </a:r>
          </a:p>
          <a:p>
            <a:r>
              <a:rPr lang="de-DE" sz="1500"/>
              <a:t>Confusion Matrix:</a:t>
            </a:r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Predictive Modelling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6</a:t>
            </a:fld>
            <a:endParaRPr sz="900"/>
          </a:p>
        </p:txBody>
      </p: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Q1 - 2026</a:t>
            </a:r>
          </a:p>
        </p:txBody>
      </p:sp>
      <p:pic>
        <p:nvPicPr>
          <p:cNvPr id="179" name="Picture 178" descr="fi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000" y="3050000"/>
            <a:ext cx="4300000" cy="175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endParaRPr sz="1500"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r>
              <a:t>Hyperparameter-Tuning: GridSearchCV für n_estimators, max_depth, min_samples_split</a:t>
            </a:r>
          </a:p>
          <a:p>
            <a:r>
              <a:t>Feature Engineering: Interaktionsterm 'Klasse × Reisegrund', Delay-Kategorien</a:t>
            </a:r>
          </a:p>
          <a:p>
            <a:r>
              <a:t>Weitere Modelle evaluieren: Gradient Boosting, XGBoost, Logistische Regression</a:t>
            </a:r>
          </a:p>
          <a:p>
            <a:r>
              <a:t/>
            </a:r>
          </a:p>
          <a:p>
            <a:r>
              <a:t>Geschäftliche Empfehlung:</a:t>
            </a:r>
          </a:p>
          <a:p>
            <a:r>
              <a:t>  On-board Service und Beinfreiheit zeigen den stärksten Einfluss auf Zufriedenheit</a:t>
            </a:r>
          </a:p>
          <a:p>
            <a:r>
              <a:t>  → Investitionen in diese Bereiche priorisieren</a:t>
            </a:r>
          </a:p>
          <a:p>
            <a:r>
              <a:t/>
            </a:r>
          </a:p>
          <a:p>
            <a:r>
              <a:t>Produktiveinsatz: Echtzeit-Scoring-API für proaktives Kundenbindungsmanagement</a:t>
            </a:r>
          </a:p>
          <a:p>
            <a:r>
              <a:t>  → Unzufriedenheit vorhersagen, bevor der Passagier landet</a:t>
            </a:r>
          </a:p>
        </p:txBody>
      </p:sp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Nächste Schritte</a:t>
            </a:r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100"/>
              <a:t>7</a:t>
            </a:fld>
            <a:endParaRPr sz="900"/>
          </a:p>
        </p:txBody>
      </p:sp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Q1 - 2026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HBW_RV_PPT_Vorlage">
  <a:themeElements>
    <a:clrScheme name="Benutzerdefiniert 3">
      <a:dk1>
        <a:srgbClr val="5C6971"/>
      </a:dk1>
      <a:lt1>
        <a:srgbClr val="FFFFFF"/>
      </a:lt1>
      <a:dk2>
        <a:srgbClr val="8E130A"/>
      </a:dk2>
      <a:lt2>
        <a:srgbClr val="FFFFFF"/>
      </a:lt2>
      <a:accent1>
        <a:srgbClr val="E2001A"/>
      </a:accent1>
      <a:accent2>
        <a:srgbClr val="F58179"/>
      </a:accent2>
      <a:accent3>
        <a:srgbClr val="FAC0BC"/>
      </a:accent3>
      <a:accent4>
        <a:srgbClr val="DDE1E3"/>
      </a:accent4>
      <a:accent5>
        <a:srgbClr val="BBC3C8"/>
      </a:accent5>
      <a:accent6>
        <a:srgbClr val="9AA5AC"/>
      </a:accent6>
      <a:hlink>
        <a:srgbClr val="E2001A"/>
      </a:hlink>
      <a:folHlink>
        <a:srgbClr val="A2AD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Bildschirmpräsentation (16:9)</PresentationFormat>
  <Slides>7</Slides>
  <Notes>7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1_DHBW_RV_PPT_Vorlage</vt:lpstr>
      <vt:lpstr>Posterpräsentation </vt:lpstr>
      <vt:lpstr>Gliederung</vt:lpstr>
      <vt:lpstr>Anwendungsfall</vt:lpstr>
      <vt:lpstr>Data Cleaning</vt:lpstr>
      <vt:lpstr>Data Exploration</vt:lpstr>
      <vt:lpstr>Predictive Modelling</vt:lpstr>
      <vt:lpstr>Nächste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2025-03-05T15:04:10Z</dcterms:modified>
</cp:coreProperties>
</file>